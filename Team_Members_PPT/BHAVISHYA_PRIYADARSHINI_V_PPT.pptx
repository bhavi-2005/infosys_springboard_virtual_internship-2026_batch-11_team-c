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8" r:id="rId6"/>
    <p:sldId id="261" r:id="rId7"/>
    <p:sldId id="288" r:id="rId8"/>
    <p:sldId id="257" r:id="rId9"/>
    <p:sldId id="260" r:id="rId10"/>
    <p:sldId id="286" r:id="rId11"/>
    <p:sldId id="267" r:id="rId12"/>
    <p:sldId id="287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B7C6"/>
    <a:srgbClr val="103350"/>
    <a:srgbClr val="0C4360"/>
    <a:srgbClr val="1B6872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DBB329-A281-4385-B01A-EE89EC16C85A}" v="8" dt="2026-02-20T13:22:25.0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21-Feb-26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21-Feb-26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76669" y="1511054"/>
            <a:ext cx="7786209" cy="1243584"/>
          </a:xfrm>
        </p:spPr>
        <p:txBody>
          <a:bodyPr/>
          <a:lstStyle/>
          <a:p>
            <a:pPr>
              <a:lnSpc>
                <a:spcPts val="13343"/>
              </a:lnSpc>
            </a:pPr>
            <a:r>
              <a:rPr lang="en-US" dirty="0">
                <a:solidFill>
                  <a:schemeClr val="accent1">
                    <a:lumMod val="20000"/>
                    <a:lumOff val="80000"/>
                  </a:schemeClr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ELECTVIZ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76669" y="2617882"/>
            <a:ext cx="10468947" cy="950976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bg2">
                    <a:lumMod val="20000"/>
                    <a:lumOff val="8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ELECTION DATA VISUALIZATION FOR MEDIA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3B9944-E835-FDA9-C059-D15C60BD6FF4}"/>
              </a:ext>
            </a:extLst>
          </p:cNvPr>
          <p:cNvSpPr txBox="1"/>
          <p:nvPr/>
        </p:nvSpPr>
        <p:spPr>
          <a:xfrm>
            <a:off x="4334135" y="4796440"/>
            <a:ext cx="785786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  <a:latin typeface="Poppins" panose="00000500000000000000" pitchFamily="2" charset="0"/>
                <a:ea typeface="Poppins Bold"/>
                <a:cs typeface="Poppins" panose="00000500000000000000" pitchFamily="2" charset="0"/>
                <a:sym typeface="Poppins Bold"/>
              </a:rPr>
              <a:t>Mentor                      : </a:t>
            </a:r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ea typeface="Poppins Bold"/>
                <a:cs typeface="Poppins" panose="00000500000000000000" pitchFamily="2" charset="0"/>
                <a:sym typeface="Poppins Bold"/>
              </a:rPr>
              <a:t>Mrs. </a:t>
            </a:r>
            <a:r>
              <a:rPr lang="en-US" sz="2400" dirty="0" err="1">
                <a:solidFill>
                  <a:schemeClr val="bg1"/>
                </a:solidFill>
                <a:latin typeface="Poppins" panose="00000500000000000000" pitchFamily="2" charset="0"/>
                <a:ea typeface="Poppins Bold"/>
                <a:cs typeface="Poppins" panose="00000500000000000000" pitchFamily="2" charset="0"/>
                <a:sym typeface="Poppins Bold"/>
              </a:rPr>
              <a:t>Nityashree</a:t>
            </a:r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ea typeface="Poppins Bold"/>
                <a:cs typeface="Poppins" panose="00000500000000000000" pitchFamily="2" charset="0"/>
                <a:sym typeface="Poppins Bold"/>
              </a:rPr>
              <a:t> S J</a:t>
            </a:r>
            <a:endParaRPr lang="en-U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Presentation by : </a:t>
            </a:r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BHAVISHYA PRIYADARSHINI V</a:t>
            </a:r>
          </a:p>
          <a:p>
            <a:r>
              <a:rPr lang="en-US" dirty="0"/>
              <a:t>   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E7852D-EB77-8D04-5A67-778796E426B2}"/>
              </a:ext>
            </a:extLst>
          </p:cNvPr>
          <p:cNvSpPr txBox="1"/>
          <p:nvPr/>
        </p:nvSpPr>
        <p:spPr>
          <a:xfrm>
            <a:off x="2276669" y="1184104"/>
            <a:ext cx="868680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Infosys Virtual Internship 6.0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527F39-0D5B-C854-8E0F-DEA64CED6970}"/>
              </a:ext>
            </a:extLst>
          </p:cNvPr>
          <p:cNvSpPr txBox="1"/>
          <p:nvPr/>
        </p:nvSpPr>
        <p:spPr>
          <a:xfrm>
            <a:off x="2276669" y="3326642"/>
            <a:ext cx="15039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Group :1</a:t>
            </a:r>
          </a:p>
          <a:p>
            <a:r>
              <a:rPr lang="en-US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Batch  :11</a:t>
            </a: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321" y="677474"/>
            <a:ext cx="10919279" cy="701731"/>
          </a:xfrm>
        </p:spPr>
        <p:txBody>
          <a:bodyPr/>
          <a:lstStyle/>
          <a:p>
            <a:r>
              <a:rPr lang="en-US" sz="4400" dirty="0"/>
              <a:t>Introduction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0289" y="1760663"/>
            <a:ext cx="7759312" cy="4554411"/>
          </a:xfrm>
        </p:spPr>
        <p:txBody>
          <a:bodyPr/>
          <a:lstStyle/>
          <a:p>
            <a:pPr marL="646981" lvl="1" indent="-323491">
              <a:lnSpc>
                <a:spcPct val="150000"/>
              </a:lnSpc>
              <a:buFont typeface="Arial"/>
              <a:buChar char="•"/>
            </a:pPr>
            <a:r>
              <a:rPr lang="en-US" sz="1800" b="1" dirty="0" err="1">
                <a:latin typeface="Arial Bold"/>
                <a:ea typeface="Arial Bold"/>
                <a:cs typeface="Arial Bold"/>
                <a:sym typeface="Arial Bold"/>
              </a:rPr>
              <a:t>ElectViz</a:t>
            </a:r>
            <a:r>
              <a:rPr lang="en-US" sz="1800" b="1" dirty="0">
                <a:latin typeface="Arial Bold"/>
                <a:ea typeface="Arial Bold"/>
                <a:cs typeface="Arial Bold"/>
                <a:sym typeface="Arial Bold"/>
              </a:rPr>
              <a:t> – Election Data Visualization for Media</a:t>
            </a:r>
            <a:r>
              <a:rPr lang="en-US" sz="1800" dirty="0">
                <a:ea typeface="Arial"/>
                <a:cs typeface="Arial"/>
                <a:sym typeface="Arial"/>
              </a:rPr>
              <a:t> is an interactive data analytics project developed using </a:t>
            </a:r>
            <a:r>
              <a:rPr lang="en-US" sz="1800" b="1" dirty="0">
                <a:latin typeface="Arial Bold"/>
                <a:ea typeface="Arial Bold"/>
                <a:cs typeface="Arial Bold"/>
                <a:sym typeface="Arial Bold"/>
              </a:rPr>
              <a:t>Microsoft Power BI</a:t>
            </a:r>
            <a:r>
              <a:rPr lang="en-US" sz="1800" dirty="0">
                <a:ea typeface="Arial"/>
                <a:cs typeface="Arial"/>
                <a:sym typeface="Arial"/>
              </a:rPr>
              <a:t>, aimed at analyzing Indian </a:t>
            </a:r>
            <a:r>
              <a:rPr lang="en-US" sz="1800" b="1" dirty="0">
                <a:latin typeface="Arial Bold"/>
                <a:ea typeface="Arial Bold"/>
                <a:cs typeface="Arial Bold"/>
                <a:sym typeface="Arial Bold"/>
              </a:rPr>
              <a:t>National-level General Election data from </a:t>
            </a:r>
            <a:r>
              <a:rPr lang="en-US" sz="1800" b="1" dirty="0" err="1">
                <a:latin typeface="Arial Bold"/>
                <a:ea typeface="Arial Bold"/>
                <a:cs typeface="Arial Bold"/>
                <a:sym typeface="Arial Bold"/>
              </a:rPr>
              <a:t>kaggle</a:t>
            </a:r>
            <a:r>
              <a:rPr lang="en-US" sz="1800" dirty="0">
                <a:ea typeface="Arial"/>
                <a:cs typeface="Arial"/>
                <a:sym typeface="Arial"/>
              </a:rPr>
              <a:t>. </a:t>
            </a:r>
          </a:p>
          <a:p>
            <a:pPr marL="646981" lvl="1" indent="-323491">
              <a:lnSpc>
                <a:spcPct val="150000"/>
              </a:lnSpc>
              <a:buFont typeface="Arial"/>
              <a:buChar char="•"/>
            </a:pPr>
            <a:r>
              <a:rPr lang="en-US" sz="1800" dirty="0">
                <a:ea typeface="Arial"/>
                <a:cs typeface="Arial"/>
                <a:sym typeface="Arial"/>
              </a:rPr>
              <a:t>The project focuses on transforming large and complex election datasets into visually engaging and interactive dashboards. </a:t>
            </a:r>
          </a:p>
          <a:p>
            <a:pPr marL="646981" lvl="1" indent="-323491">
              <a:lnSpc>
                <a:spcPct val="150000"/>
              </a:lnSpc>
              <a:buFont typeface="Arial"/>
              <a:buChar char="•"/>
            </a:pPr>
            <a:r>
              <a:rPr lang="en-US" sz="1800" spc="29" dirty="0">
                <a:ea typeface="Arial"/>
                <a:cs typeface="Arial"/>
                <a:sym typeface="Arial"/>
              </a:rPr>
              <a:t>These dashboards help users explore voting patterns, voter turnout, party performance, candidate participation, and gender representation across different states, regions, and election years</a:t>
            </a:r>
            <a:r>
              <a:rPr lang="en-US" spc="29" dirty="0">
                <a:ea typeface="Arial"/>
                <a:cs typeface="Arial"/>
                <a:sym typeface="Arial"/>
              </a:rPr>
              <a:t>.</a:t>
            </a:r>
          </a:p>
          <a:p>
            <a:endParaRPr lang="en-US" sz="10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701731"/>
          </a:xfrm>
        </p:spPr>
        <p:txBody>
          <a:bodyPr/>
          <a:lstStyle/>
          <a:p>
            <a:r>
              <a:rPr lang="en-US" sz="4400" dirty="0"/>
              <a:t>System Design and Workflow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DC4E62-1A34-4F98-A451-214F1808519C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444500" y="2505075"/>
            <a:ext cx="3551767" cy="368458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74E99A89-1E61-767D-48C8-0EA2001FF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30B336D-5757-A923-2384-A7CB554D7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816" y="892272"/>
            <a:ext cx="13613363" cy="6590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8F9E353-4D64-FB94-5B28-72A03B07E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5744" y="1457407"/>
            <a:ext cx="4719864" cy="470079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1" spc="0" dirty="0">
                <a:solidFill>
                  <a:schemeClr val="bg1"/>
                </a:solidFill>
              </a:rPr>
              <a:t>Milestone 1: </a:t>
            </a:r>
            <a:r>
              <a:rPr lang="en-US" sz="1800" spc="0" dirty="0">
                <a:solidFill>
                  <a:schemeClr val="bg1"/>
                </a:solidFill>
              </a:rPr>
              <a:t>Data Collection &amp; Preprocessing</a:t>
            </a:r>
          </a:p>
          <a:p>
            <a:pPr>
              <a:lnSpc>
                <a:spcPct val="100000"/>
              </a:lnSpc>
            </a:pPr>
            <a:r>
              <a:rPr lang="en-US" sz="1800" spc="0" dirty="0">
                <a:solidFill>
                  <a:schemeClr val="bg1"/>
                </a:solidFill>
              </a:rPr>
              <a:t>Collected Indian General Election dataset from Kaggle</a:t>
            </a:r>
          </a:p>
          <a:p>
            <a:pPr>
              <a:lnSpc>
                <a:spcPct val="100000"/>
              </a:lnSpc>
            </a:pPr>
            <a:r>
              <a:rPr lang="en-US" sz="1800" spc="0" dirty="0">
                <a:solidFill>
                  <a:schemeClr val="bg1"/>
                </a:solidFill>
              </a:rPr>
              <a:t>Cleaned and standardized data using Power Query</a:t>
            </a:r>
          </a:p>
          <a:p>
            <a:pPr>
              <a:lnSpc>
                <a:spcPct val="100000"/>
              </a:lnSpc>
            </a:pPr>
            <a:endParaRPr lang="en-US" sz="1800" spc="0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</a:pPr>
            <a:r>
              <a:rPr lang="en-US" sz="1800" b="1" spc="0" dirty="0">
                <a:solidFill>
                  <a:schemeClr val="bg1"/>
                </a:solidFill>
              </a:rPr>
              <a:t>Milestone 2: </a:t>
            </a:r>
            <a:r>
              <a:rPr lang="en-US" sz="1800" spc="0" dirty="0">
                <a:solidFill>
                  <a:schemeClr val="bg1"/>
                </a:solidFill>
              </a:rPr>
              <a:t>Initial Dashboard Development</a:t>
            </a:r>
          </a:p>
          <a:p>
            <a:pPr>
              <a:lnSpc>
                <a:spcPct val="100000"/>
              </a:lnSpc>
            </a:pPr>
            <a:r>
              <a:rPr lang="en-US" sz="1800" spc="0" dirty="0">
                <a:solidFill>
                  <a:schemeClr val="bg1"/>
                </a:solidFill>
              </a:rPr>
              <a:t>Designed Election Overview dashboard</a:t>
            </a:r>
          </a:p>
          <a:p>
            <a:pPr>
              <a:lnSpc>
                <a:spcPct val="100000"/>
              </a:lnSpc>
            </a:pPr>
            <a:r>
              <a:rPr lang="en-US" sz="1800" spc="0" dirty="0">
                <a:solidFill>
                  <a:schemeClr val="bg1"/>
                </a:solidFill>
              </a:rPr>
              <a:t>Developed Gender Analysis and Regional Analysis pages</a:t>
            </a:r>
          </a:p>
          <a:p>
            <a:pPr>
              <a:lnSpc>
                <a:spcPct val="100000"/>
              </a:lnSpc>
            </a:pPr>
            <a:r>
              <a:rPr lang="en-US" sz="1800" spc="0" dirty="0">
                <a:solidFill>
                  <a:schemeClr val="bg1"/>
                </a:solidFill>
              </a:rPr>
              <a:t>Implemented slicers and interactive visuals</a:t>
            </a:r>
          </a:p>
          <a:p>
            <a:pPr>
              <a:lnSpc>
                <a:spcPct val="100000"/>
              </a:lnSpc>
            </a:pPr>
            <a:br>
              <a:rPr lang="en-US" sz="1800" spc="0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endParaRPr lang="en-US" sz="1800" spc="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>
              <a:lnSpc>
                <a:spcPct val="100000"/>
              </a:lnSpc>
            </a:pPr>
            <a:endParaRPr lang="en-IN" sz="1800" spc="0" dirty="0">
              <a:solidFill>
                <a:schemeClr val="bg1"/>
              </a:solidFill>
              <a:latin typeface="Arial Black" panose="020B0A04020102020204" pitchFamily="34" charset="0"/>
            </a:endParaRPr>
          </a:p>
          <a:p>
            <a:pPr>
              <a:lnSpc>
                <a:spcPct val="100000"/>
              </a:lnSpc>
            </a:pPr>
            <a:endParaRPr lang="en-US" sz="1800" spc="0" dirty="0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74B4F7-B029-7DE0-CA67-A63C6FCF7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4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B81CAE9-7B9C-8E5F-E61F-6A05B7839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58620" y="-83975"/>
            <a:ext cx="12350620" cy="1026368"/>
          </a:xfrm>
        </p:spPr>
        <p:txBody>
          <a:bodyPr>
            <a:normAutofit/>
          </a:bodyPr>
          <a:lstStyle/>
          <a:p>
            <a:pPr algn="ctr"/>
            <a:r>
              <a:rPr lang="en-US" sz="4400" dirty="0"/>
              <a:t>Milestones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BBD181-F098-F4D5-2C7E-4D7AF254685F}"/>
              </a:ext>
            </a:extLst>
          </p:cNvPr>
          <p:cNvSpPr txBox="1"/>
          <p:nvPr/>
        </p:nvSpPr>
        <p:spPr>
          <a:xfrm>
            <a:off x="6276393" y="1457407"/>
            <a:ext cx="484569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Milestone 3: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 Trend &amp; Participation Analysis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Built State-Wise Voting Trend dashboard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Developed Candidate Participation Analysis</a:t>
            </a:r>
          </a:p>
          <a:p>
            <a:pPr>
              <a:lnSpc>
                <a:spcPct val="150000"/>
              </a:lnSpc>
              <a:buNone/>
            </a:pP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Milestone 4: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Advanced Insights &amp; Performance Evaluation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Created Voter Turnout Analysis dashboard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Designed Top Party Performance dashboard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EBD0217-D058-F16F-58E1-D28A61F32E66}"/>
              </a:ext>
            </a:extLst>
          </p:cNvPr>
          <p:cNvCxnSpPr/>
          <p:nvPr/>
        </p:nvCxnSpPr>
        <p:spPr>
          <a:xfrm>
            <a:off x="1314061" y="3620278"/>
            <a:ext cx="956387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04E85EA-E802-F599-F986-E73242E0007A}"/>
              </a:ext>
            </a:extLst>
          </p:cNvPr>
          <p:cNvCxnSpPr/>
          <p:nvPr/>
        </p:nvCxnSpPr>
        <p:spPr>
          <a:xfrm>
            <a:off x="6096000" y="1576874"/>
            <a:ext cx="0" cy="4264089"/>
          </a:xfrm>
          <a:prstGeom prst="line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91628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95738"/>
          </a:xfrm>
        </p:spPr>
        <p:txBody>
          <a:bodyPr>
            <a:normAutofit/>
          </a:bodyPr>
          <a:lstStyle/>
          <a:p>
            <a:pPr algn="ctr"/>
            <a:r>
              <a:rPr lang="en-US" sz="4400" dirty="0"/>
              <a:t>Dashboard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AE039B5-0984-5F08-5263-B73D46A9C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196" y="895739"/>
            <a:ext cx="5629846" cy="26685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235989-35E4-A815-9AE5-4FBC9076B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1958" y="895739"/>
            <a:ext cx="5629846" cy="26685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19CDB8-C75F-DF2F-F8EB-11966594FB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5586" y="3704253"/>
            <a:ext cx="6128912" cy="2975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D4835AE-500B-CA42-E03F-371A6EE87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5976" y="408561"/>
            <a:ext cx="5690680" cy="282102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5D50092-6A89-8307-8ABF-D85E11DA66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401" y="3494054"/>
            <a:ext cx="5619347" cy="28210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843581F-B0AF-4BEF-FC04-4600E5DCF3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976" y="3494054"/>
            <a:ext cx="5655014" cy="28766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521283-97CD-6D30-6CA7-36130B3159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400" y="408561"/>
            <a:ext cx="5619348" cy="2821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2333B-7262-5E32-5037-7D62DB206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A682D87-CD55-8BC6-CA59-1072218F2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32940"/>
            <a:ext cx="11214100" cy="701731"/>
          </a:xfrm>
        </p:spPr>
        <p:txBody>
          <a:bodyPr/>
          <a:lstStyle/>
          <a:p>
            <a:r>
              <a:rPr lang="en-US" sz="4400" dirty="0"/>
              <a:t>Future Enhancement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08E691-DD0A-DF2E-9E1F-B91B12CDBE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3120" y="1619609"/>
            <a:ext cx="6954676" cy="4370643"/>
          </a:xfrm>
        </p:spPr>
        <p:txBody>
          <a:bodyPr/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>
                <a:latin typeface="Arial" panose="020B0604020202020204" pitchFamily="34" charset="0"/>
              </a:rPr>
              <a:t>Real-Time Election Data Integration</a:t>
            </a:r>
            <a:r>
              <a:rPr lang="en-US" altLang="en-US" sz="1800" dirty="0">
                <a:latin typeface="Arial" panose="020B0604020202020204" pitchFamily="34" charset="0"/>
              </a:rPr>
              <a:t> – Incorporate live election data feeds to provide real-time updates and dynamic dashboards.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>
                <a:latin typeface="Arial" panose="020B0604020202020204" pitchFamily="34" charset="0"/>
              </a:rPr>
              <a:t>Predictive Analysis</a:t>
            </a:r>
            <a:r>
              <a:rPr lang="en-US" altLang="en-US" sz="1800" dirty="0">
                <a:latin typeface="Arial" panose="020B0604020202020204" pitchFamily="34" charset="0"/>
              </a:rPr>
              <a:t> – Apply machine learning techniques to forecast voter turnout and party performance trends.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>
                <a:latin typeface="Arial" panose="020B0604020202020204" pitchFamily="34" charset="0"/>
              </a:rPr>
              <a:t>Constituency-Level Deep Analysis</a:t>
            </a:r>
            <a:r>
              <a:rPr lang="en-US" altLang="en-US" sz="1800" dirty="0">
                <a:latin typeface="Arial" panose="020B0604020202020204" pitchFamily="34" charset="0"/>
              </a:rPr>
              <a:t> – Expand the dashboard to include more granular constituency-wise insights and comparisons.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>
                <a:latin typeface="Arial" panose="020B0604020202020204" pitchFamily="34" charset="0"/>
              </a:rPr>
              <a:t>Advanced Comparative Analytics</a:t>
            </a:r>
            <a:r>
              <a:rPr lang="en-US" altLang="en-US" sz="1800" dirty="0">
                <a:latin typeface="Arial" panose="020B0604020202020204" pitchFamily="34" charset="0"/>
              </a:rPr>
              <a:t> – Enable multi-year and multi-state comparative visualizations for deeper trend analysis.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0DCDD6-D15A-3538-5FDA-47AD38A4D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93927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DC7217-2779-44E0-9E6D-3B3879516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8616D3-2FF4-79B6-983F-EC78F026311C}"/>
              </a:ext>
            </a:extLst>
          </p:cNvPr>
          <p:cNvSpPr txBox="1"/>
          <p:nvPr/>
        </p:nvSpPr>
        <p:spPr>
          <a:xfrm>
            <a:off x="-167952" y="542925"/>
            <a:ext cx="121173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Trebuchet MS (Headings)"/>
              </a:rPr>
              <a:t>Conclusion</a:t>
            </a:r>
            <a:endParaRPr lang="en-US" sz="2800" b="1" dirty="0">
              <a:solidFill>
                <a:schemeClr val="bg1"/>
              </a:solidFill>
              <a:latin typeface="Trebuchet MS (Headings)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B0E3F9-3516-8705-DB54-0338D8A1FA21}"/>
              </a:ext>
            </a:extLst>
          </p:cNvPr>
          <p:cNvSpPr txBox="1"/>
          <p:nvPr/>
        </p:nvSpPr>
        <p:spPr>
          <a:xfrm>
            <a:off x="2481943" y="1496906"/>
            <a:ext cx="7464490" cy="4196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47697" lvl="1" indent="-323848">
              <a:lnSpc>
                <a:spcPct val="150000"/>
              </a:lnSpc>
              <a:buClr>
                <a:srgbClr val="63B7C6"/>
              </a:buClr>
              <a:buFont typeface="Arial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The </a:t>
            </a:r>
            <a:r>
              <a:rPr lang="en-US" dirty="0" err="1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ElectViz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 project effectively transforms complex Indian election data into clear and interactive visual insights using Power BI.</a:t>
            </a:r>
          </a:p>
          <a:p>
            <a:pPr marL="647697" lvl="1" indent="-323848">
              <a:lnSpc>
                <a:spcPct val="150000"/>
              </a:lnSpc>
              <a:buClr>
                <a:srgbClr val="63B7C6"/>
              </a:buClr>
              <a:buFont typeface="Arial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It enables meaningful analysis of voting patterns, voter turnout, party performance, and candidate participation.</a:t>
            </a:r>
          </a:p>
          <a:p>
            <a:pPr marL="647697" lvl="1" indent="-323848">
              <a:lnSpc>
                <a:spcPct val="150000"/>
              </a:lnSpc>
              <a:buClr>
                <a:srgbClr val="63B7C6"/>
              </a:buClr>
              <a:buFont typeface="Arial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The dashboards support data-driven storytelling for media, analysts, and the general public.</a:t>
            </a:r>
          </a:p>
          <a:p>
            <a:pPr marL="647697" lvl="1" indent="-323848">
              <a:lnSpc>
                <a:spcPct val="150000"/>
              </a:lnSpc>
              <a:buClr>
                <a:srgbClr val="63B7C6"/>
              </a:buClr>
              <a:buFont typeface="Arial"/>
              <a:buChar char="•"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Overall, the project demonstrates the real-world impact of data analytics and visualization in understanding democratic processes.</a:t>
            </a:r>
          </a:p>
        </p:txBody>
      </p:sp>
    </p:spTree>
    <p:extLst>
      <p:ext uri="{BB962C8B-B14F-4D97-AF65-F5344CB8AC3E}">
        <p14:creationId xmlns:p14="http://schemas.microsoft.com/office/powerpoint/2010/main" val="9141345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2BA88-3958-10E3-6A4D-E6E276FF9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757130"/>
          </a:xfrm>
        </p:spPr>
        <p:txBody>
          <a:bodyPr/>
          <a:lstStyle/>
          <a:p>
            <a:r>
              <a:rPr lang="en-US" sz="4800" dirty="0"/>
              <a:t>Acknowledgements and References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711A8B3-DB58-B7C4-F5AC-BAA135EFE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37EAFA-1616-2433-B382-E6B7DE80E6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499" y="1399593"/>
            <a:ext cx="7439868" cy="4693298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We would like to express our heartfelt gratitude to:</a:t>
            </a:r>
          </a:p>
          <a:p>
            <a:r>
              <a:rPr lang="en-US" sz="1800" b="1" dirty="0"/>
              <a:t>Infosys Springboard Team </a:t>
            </a:r>
            <a:r>
              <a:rPr lang="en-US" sz="1800" dirty="0"/>
              <a:t>– for organizing this valuable internship opportunity.</a:t>
            </a:r>
          </a:p>
          <a:p>
            <a:r>
              <a:rPr lang="en-US" sz="1800" b="1" dirty="0"/>
              <a:t>Our Mentor </a:t>
            </a:r>
            <a:r>
              <a:rPr lang="en-US" sz="1800" dirty="0"/>
              <a:t>– for her continuous support and feedback.</a:t>
            </a:r>
          </a:p>
          <a:p>
            <a:r>
              <a:rPr lang="en-US" sz="1800" b="1" dirty="0"/>
              <a:t>My Teammates </a:t>
            </a:r>
            <a:r>
              <a:rPr lang="en-US" sz="1800" dirty="0"/>
              <a:t>– for collaboration, encouragement, and insights This internship has been a significant step in our professional growth and technical journey.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References:</a:t>
            </a:r>
          </a:p>
          <a:p>
            <a:r>
              <a:rPr lang="en-US" sz="1800" dirty="0"/>
              <a:t>Election Dataset (Election Commission of India / Kaggle source)</a:t>
            </a:r>
          </a:p>
          <a:p>
            <a:r>
              <a:rPr lang="en-US" sz="1800" dirty="0"/>
              <a:t>Microsoft Power BI Documentation</a:t>
            </a:r>
          </a:p>
          <a:p>
            <a:r>
              <a:rPr lang="en-US" sz="1800" dirty="0"/>
              <a:t>Infosys Springboard Virtual Internship course materials</a:t>
            </a:r>
          </a:p>
        </p:txBody>
      </p:sp>
    </p:spTree>
    <p:extLst>
      <p:ext uri="{BB962C8B-B14F-4D97-AF65-F5344CB8AC3E}">
        <p14:creationId xmlns:p14="http://schemas.microsoft.com/office/powerpoint/2010/main" val="28921915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807208"/>
            <a:ext cx="12191999" cy="1243584"/>
          </a:xfrm>
        </p:spPr>
        <p:txBody>
          <a:bodyPr/>
          <a:lstStyle/>
          <a:p>
            <a:pPr algn="ctr"/>
            <a:r>
              <a:rPr lang="en-US" sz="7200" dirty="0"/>
              <a:t>Thank You </a:t>
            </a:r>
            <a:endParaRPr lang="en-GB" sz="7200" dirty="0"/>
          </a:p>
        </p:txBody>
      </p:sp>
    </p:spTree>
    <p:extLst>
      <p:ext uri="{BB962C8B-B14F-4D97-AF65-F5344CB8AC3E}">
        <p14:creationId xmlns:p14="http://schemas.microsoft.com/office/powerpoint/2010/main" val="4297718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631</TotalTime>
  <Words>423</Words>
  <Application>Microsoft Office PowerPoint</Application>
  <PresentationFormat>Widescreen</PresentationFormat>
  <Paragraphs>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Arial</vt:lpstr>
      <vt:lpstr>Arial Black</vt:lpstr>
      <vt:lpstr>Arial Bold</vt:lpstr>
      <vt:lpstr>Calibri</vt:lpstr>
      <vt:lpstr>League Spartan</vt:lpstr>
      <vt:lpstr>Poppins</vt:lpstr>
      <vt:lpstr>Trade Gothic LT Pro</vt:lpstr>
      <vt:lpstr>Trebuchet MS</vt:lpstr>
      <vt:lpstr>Trebuchet MS (Headings)</vt:lpstr>
      <vt:lpstr>Office Theme</vt:lpstr>
      <vt:lpstr>ELECTVIZ</vt:lpstr>
      <vt:lpstr>Introduction</vt:lpstr>
      <vt:lpstr>System Design and Workflow</vt:lpstr>
      <vt:lpstr>Milestones</vt:lpstr>
      <vt:lpstr>Dashboard</vt:lpstr>
      <vt:lpstr>PowerPoint Presentation</vt:lpstr>
      <vt:lpstr>Future Enhancement</vt:lpstr>
      <vt:lpstr>PowerPoint Presentation</vt:lpstr>
      <vt:lpstr>Acknowledgements and References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Bhavishya Priyadarshini V</dc:creator>
  <cp:lastModifiedBy>Bhavishya Priyadarshini V</cp:lastModifiedBy>
  <cp:revision>5</cp:revision>
  <dcterms:created xsi:type="dcterms:W3CDTF">2026-02-09T12:34:17Z</dcterms:created>
  <dcterms:modified xsi:type="dcterms:W3CDTF">2026-02-21T15:50:14Z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