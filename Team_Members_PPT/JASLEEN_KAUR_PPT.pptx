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59" r:id="rId5"/>
    <p:sldId id="260" r:id="rId6"/>
    <p:sldId id="270" r:id="rId7"/>
    <p:sldId id="262" r:id="rId8"/>
    <p:sldId id="269" r:id="rId9"/>
    <p:sldId id="265" r:id="rId10"/>
    <p:sldId id="264" r:id="rId11"/>
    <p:sldId id="263" r:id="rId12"/>
  </p:sldIdLst>
  <p:sldSz cx="18288000" cy="10287000"/>
  <p:notesSz cx="6858000" cy="9144000"/>
  <p:embeddedFontLst>
    <p:embeddedFont>
      <p:font typeface="League Spartan" panose="020B0604020202020204" charset="0"/>
      <p:regular r:id="rId13"/>
    </p:embeddedFont>
    <p:embeddedFont>
      <p:font typeface="Merriweather Sans" pitchFamily="2" charset="0"/>
      <p:regular r:id="rId14"/>
      <p:bold r:id="rId15"/>
    </p:embeddedFont>
    <p:embeddedFont>
      <p:font typeface="Merriweather Sans Bold" charset="0"/>
      <p:regular r:id="rId16"/>
    </p:embeddedFont>
    <p:embeddedFont>
      <p:font typeface="Monda" panose="020B0604020202020204" charset="0"/>
      <p:regular r:id="rId17"/>
    </p:embeddedFont>
    <p:embeddedFont>
      <p:font typeface="Poppins" panose="00000500000000000000" pitchFamily="2" charset="0"/>
      <p:regular r:id="rId18"/>
      <p:bold r:id="rId19"/>
    </p:embeddedFont>
    <p:embeddedFont>
      <p:font typeface="Poppins Bold" panose="00000800000000000000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7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14659" y="3321288"/>
            <a:ext cx="17794772" cy="3900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300" b="1" dirty="0">
                <a:solidFill>
                  <a:srgbClr val="0020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ELECTVIZ  </a:t>
            </a:r>
          </a:p>
          <a:p>
            <a:pPr algn="ctr"/>
            <a:r>
              <a:rPr lang="en-US" sz="6300" b="1" dirty="0">
                <a:solidFill>
                  <a:srgbClr val="0020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ELECTION DATA VISUALIZATION FOR MEDIA BATCH 11 GROUP 1 </a:t>
            </a:r>
          </a:p>
          <a:p>
            <a:pPr algn="ctr"/>
            <a:endParaRPr lang="en-US" sz="5545" b="1" dirty="0">
              <a:solidFill>
                <a:srgbClr val="002060"/>
              </a:solidFill>
              <a:latin typeface="Merriweather Sans Bold"/>
              <a:ea typeface="Merriweather Sans Bold"/>
              <a:cs typeface="Merriweather Sans Bold"/>
              <a:sym typeface="Merriweather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381948" y="6743700"/>
            <a:ext cx="10162036" cy="15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Mentor: Mrs. Nityashree S J</a:t>
            </a:r>
          </a:p>
          <a:p>
            <a:pPr algn="ctr">
              <a:lnSpc>
                <a:spcPts val="6256"/>
              </a:lnSpc>
            </a:pPr>
            <a:r>
              <a:rPr lang="en-US" sz="4468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Submitted by: Jasleen Kaur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66ABF-0BE9-6E4F-4950-A74661C69BEB}"/>
              </a:ext>
            </a:extLst>
          </p:cNvPr>
          <p:cNvSpPr txBox="1"/>
          <p:nvPr/>
        </p:nvSpPr>
        <p:spPr>
          <a:xfrm>
            <a:off x="1574486" y="1476868"/>
            <a:ext cx="15075117" cy="96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2060"/>
                </a:solidFill>
                <a:latin typeface="League Spartan" panose="020B0604020202020204" charset="0"/>
                <a:ea typeface="Poppins"/>
                <a:cs typeface="League Spartan" panose="020B0604020202020204" charset="0"/>
                <a:sym typeface="Poppins"/>
              </a:rPr>
              <a:t>INFOSYS SPRINGBOARD VIRTUAL  INTERNSHIP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E5A1022-C9E6-D992-366D-45FBCBD66561}"/>
              </a:ext>
            </a:extLst>
          </p:cNvPr>
          <p:cNvSpPr/>
          <p:nvPr/>
        </p:nvSpPr>
        <p:spPr>
          <a:xfrm>
            <a:off x="-1966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33401" y="575006"/>
            <a:ext cx="6781800" cy="1080074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3401" y="2207964"/>
            <a:ext cx="11582400" cy="787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32"/>
              </a:lnSpc>
            </a:pPr>
            <a:r>
              <a:rPr lang="en-US" sz="3165" dirty="0" err="1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ElectViz</a:t>
            </a:r>
            <a:r>
              <a:rPr lang="en-US" sz="3165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 is an interactive election data visualization project developed as part of our internship. The project focuses on analyzing and presenting large-scale Indian election data using Power BI to uncover meaningful patterns and trends.</a:t>
            </a:r>
          </a:p>
          <a:p>
            <a:pPr algn="just">
              <a:lnSpc>
                <a:spcPts val="4432"/>
              </a:lnSpc>
            </a:pPr>
            <a:endParaRPr lang="en-US" sz="3165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>
              <a:lnSpc>
                <a:spcPts val="4432"/>
              </a:lnSpc>
            </a:pPr>
            <a:r>
              <a:rPr lang="en-US" sz="3165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The primary objective of </a:t>
            </a:r>
            <a:r>
              <a:rPr lang="en-US" sz="3165" dirty="0" err="1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ElectViz</a:t>
            </a:r>
            <a:r>
              <a:rPr lang="en-US" sz="3165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 is to transform complex election datasets into clear, intuitive, and visually engaging dashboards.</a:t>
            </a:r>
          </a:p>
          <a:p>
            <a:pPr algn="just">
              <a:lnSpc>
                <a:spcPts val="4432"/>
              </a:lnSpc>
            </a:pPr>
            <a:endParaRPr lang="en-US" sz="3165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>
              <a:lnSpc>
                <a:spcPts val="4432"/>
              </a:lnSpc>
              <a:spcBef>
                <a:spcPct val="0"/>
              </a:spcBef>
            </a:pPr>
            <a:r>
              <a:rPr lang="en-US" sz="3165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By combining data analytics with effective visualization techniques, the project demonstrates how data-driven insights can enhance political reporting and support informed interpretation of election 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517973-293C-44DC-EB7F-F0756509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3162300"/>
            <a:ext cx="521332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6B7E-124A-C8C7-8B06-CA890800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">
            <a:extLst>
              <a:ext uri="{FF2B5EF4-FFF2-40B4-BE49-F238E27FC236}">
                <a16:creationId xmlns:a16="http://schemas.microsoft.com/office/drawing/2014/main" id="{1CEB49DB-DE1A-7BED-07D8-0379E97CDFF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EEE036F6-7087-F4CF-94B0-600F0ED9861E}"/>
              </a:ext>
            </a:extLst>
          </p:cNvPr>
          <p:cNvSpPr/>
          <p:nvPr/>
        </p:nvSpPr>
        <p:spPr>
          <a:xfrm>
            <a:off x="7568612" y="85464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C47D705-8507-C155-8D7B-9632108BD20F}"/>
              </a:ext>
            </a:extLst>
          </p:cNvPr>
          <p:cNvSpPr/>
          <p:nvPr/>
        </p:nvSpPr>
        <p:spPr>
          <a:xfrm>
            <a:off x="6564386" y="182606"/>
            <a:ext cx="830074" cy="886350"/>
          </a:xfrm>
          <a:custGeom>
            <a:avLst/>
            <a:gdLst/>
            <a:ahLst/>
            <a:cxnLst/>
            <a:rect l="l" t="t" r="r" b="b"/>
            <a:pathLst>
              <a:path w="830074" h="886350">
                <a:moveTo>
                  <a:pt x="0" y="0"/>
                </a:moveTo>
                <a:lnTo>
                  <a:pt x="830074" y="0"/>
                </a:lnTo>
                <a:lnTo>
                  <a:pt x="830074" y="886350"/>
                </a:lnTo>
                <a:lnTo>
                  <a:pt x="0" y="886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6FF6C79-3623-B9F5-FCDF-AEE549990917}"/>
              </a:ext>
            </a:extLst>
          </p:cNvPr>
          <p:cNvSpPr/>
          <p:nvPr/>
        </p:nvSpPr>
        <p:spPr>
          <a:xfrm>
            <a:off x="8453077" y="1806010"/>
            <a:ext cx="875129" cy="926607"/>
          </a:xfrm>
          <a:custGeom>
            <a:avLst/>
            <a:gdLst/>
            <a:ahLst/>
            <a:cxnLst/>
            <a:rect l="l" t="t" r="r" b="b"/>
            <a:pathLst>
              <a:path w="875129" h="926607">
                <a:moveTo>
                  <a:pt x="0" y="0"/>
                </a:moveTo>
                <a:lnTo>
                  <a:pt x="875129" y="0"/>
                </a:lnTo>
                <a:lnTo>
                  <a:pt x="875129" y="926607"/>
                </a:lnTo>
                <a:lnTo>
                  <a:pt x="0" y="92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0AC8A37-1281-D6A3-EBF5-1116B2350A2B}"/>
              </a:ext>
            </a:extLst>
          </p:cNvPr>
          <p:cNvSpPr/>
          <p:nvPr/>
        </p:nvSpPr>
        <p:spPr>
          <a:xfrm>
            <a:off x="10172024" y="3538743"/>
            <a:ext cx="888542" cy="940809"/>
          </a:xfrm>
          <a:custGeom>
            <a:avLst/>
            <a:gdLst/>
            <a:ahLst/>
            <a:cxnLst/>
            <a:rect l="l" t="t" r="r" b="b"/>
            <a:pathLst>
              <a:path w="888542" h="940809">
                <a:moveTo>
                  <a:pt x="0" y="0"/>
                </a:moveTo>
                <a:lnTo>
                  <a:pt x="888542" y="0"/>
                </a:lnTo>
                <a:lnTo>
                  <a:pt x="888542" y="940809"/>
                </a:lnTo>
                <a:lnTo>
                  <a:pt x="0" y="940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AF18C40-80A2-E01B-4A4D-73CB3E50241B}"/>
              </a:ext>
            </a:extLst>
          </p:cNvPr>
          <p:cNvSpPr/>
          <p:nvPr/>
        </p:nvSpPr>
        <p:spPr>
          <a:xfrm>
            <a:off x="10233718" y="2218228"/>
            <a:ext cx="867775" cy="926607"/>
          </a:xfrm>
          <a:custGeom>
            <a:avLst/>
            <a:gdLst/>
            <a:ahLst/>
            <a:cxnLst/>
            <a:rect l="l" t="t" r="r" b="b"/>
            <a:pathLst>
              <a:path w="867775" h="926607">
                <a:moveTo>
                  <a:pt x="0" y="0"/>
                </a:moveTo>
                <a:lnTo>
                  <a:pt x="867775" y="0"/>
                </a:lnTo>
                <a:lnTo>
                  <a:pt x="867775" y="926607"/>
                </a:lnTo>
                <a:lnTo>
                  <a:pt x="0" y="926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F02441E-D4C6-D62E-4FC0-9ABC93143577}"/>
              </a:ext>
            </a:extLst>
          </p:cNvPr>
          <p:cNvSpPr/>
          <p:nvPr/>
        </p:nvSpPr>
        <p:spPr>
          <a:xfrm>
            <a:off x="8562544" y="6858127"/>
            <a:ext cx="846408" cy="899855"/>
          </a:xfrm>
          <a:custGeom>
            <a:avLst/>
            <a:gdLst/>
            <a:ahLst/>
            <a:cxnLst/>
            <a:rect l="l" t="t" r="r" b="b"/>
            <a:pathLst>
              <a:path w="867775" h="926607">
                <a:moveTo>
                  <a:pt x="0" y="0"/>
                </a:moveTo>
                <a:lnTo>
                  <a:pt x="867775" y="0"/>
                </a:lnTo>
                <a:lnTo>
                  <a:pt x="867775" y="926607"/>
                </a:lnTo>
                <a:lnTo>
                  <a:pt x="0" y="9266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A497B6B-36F4-D6A0-8F32-A593EED89B0E}"/>
              </a:ext>
            </a:extLst>
          </p:cNvPr>
          <p:cNvSpPr/>
          <p:nvPr/>
        </p:nvSpPr>
        <p:spPr>
          <a:xfrm>
            <a:off x="6572495" y="8650049"/>
            <a:ext cx="813856" cy="782807"/>
          </a:xfrm>
          <a:custGeom>
            <a:avLst/>
            <a:gdLst/>
            <a:ahLst/>
            <a:cxnLst/>
            <a:rect l="l" t="t" r="r" b="b"/>
            <a:pathLst>
              <a:path w="813856" h="782807">
                <a:moveTo>
                  <a:pt x="0" y="0"/>
                </a:moveTo>
                <a:lnTo>
                  <a:pt x="813856" y="0"/>
                </a:lnTo>
                <a:lnTo>
                  <a:pt x="813856" y="782807"/>
                </a:lnTo>
                <a:lnTo>
                  <a:pt x="0" y="7828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040" b="-504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C66E654-ED2C-69FA-5FF5-A48813D14B1F}"/>
              </a:ext>
            </a:extLst>
          </p:cNvPr>
          <p:cNvSpPr txBox="1"/>
          <p:nvPr/>
        </p:nvSpPr>
        <p:spPr>
          <a:xfrm>
            <a:off x="7724701" y="598066"/>
            <a:ext cx="616667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Historical Indian general election dataset containing state, year, constituency, candidate, party, votes, and elector details collected from Kaggle.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0595D92-5FA0-CCAD-9B9B-3C5EFB234C98}"/>
              </a:ext>
            </a:extLst>
          </p:cNvPr>
          <p:cNvSpPr txBox="1"/>
          <p:nvPr/>
        </p:nvSpPr>
        <p:spPr>
          <a:xfrm>
            <a:off x="6979423" y="52156"/>
            <a:ext cx="4282809" cy="1103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COLLECTION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5400B91-9A5A-E0AB-629C-A7388D5F0C99}"/>
              </a:ext>
            </a:extLst>
          </p:cNvPr>
          <p:cNvSpPr txBox="1"/>
          <p:nvPr/>
        </p:nvSpPr>
        <p:spPr>
          <a:xfrm>
            <a:off x="10575420" y="2371583"/>
            <a:ext cx="474038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MODELING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99" b="0" i="0" u="none" strike="noStrike" kern="1200" cap="none" spc="0" normalizeH="0" baseline="0" noProof="0" dirty="0">
              <a:ln>
                <a:noFill/>
              </a:ln>
              <a:solidFill>
                <a:srgbClr val="56C3D0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40AE88A-9EC1-A117-A3A3-08EF289DE68D}"/>
              </a:ext>
            </a:extLst>
          </p:cNvPr>
          <p:cNvSpPr txBox="1"/>
          <p:nvPr/>
        </p:nvSpPr>
        <p:spPr>
          <a:xfrm>
            <a:off x="11280789" y="5086350"/>
            <a:ext cx="474038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9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VISUALIZATION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99" b="0" i="0" u="none" strike="noStrike" kern="1200" cap="none" spc="0" normalizeH="0" baseline="0" noProof="0" dirty="0">
              <a:ln>
                <a:noFill/>
              </a:ln>
              <a:solidFill>
                <a:srgbClr val="56C3D0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873BC44F-C165-E957-880E-7C5B63290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62D1515E-A161-4420-1C38-504CEF12501D}"/>
              </a:ext>
            </a:extLst>
          </p:cNvPr>
          <p:cNvSpPr/>
          <p:nvPr/>
        </p:nvSpPr>
        <p:spPr>
          <a:xfrm>
            <a:off x="9511887" y="1741367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14FBC7C9-03F1-294B-A400-E30D34D3D25C}"/>
              </a:ext>
            </a:extLst>
          </p:cNvPr>
          <p:cNvSpPr/>
          <p:nvPr/>
        </p:nvSpPr>
        <p:spPr>
          <a:xfrm>
            <a:off x="11290484" y="3413958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197948C8-1DC6-E3DD-712E-EBE0BFF80694}"/>
              </a:ext>
            </a:extLst>
          </p:cNvPr>
          <p:cNvSpPr/>
          <p:nvPr/>
        </p:nvSpPr>
        <p:spPr>
          <a:xfrm>
            <a:off x="11290483" y="5127123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9577057-3B24-9637-D805-C37482CE12A6}"/>
              </a:ext>
            </a:extLst>
          </p:cNvPr>
          <p:cNvSpPr/>
          <p:nvPr/>
        </p:nvSpPr>
        <p:spPr>
          <a:xfrm>
            <a:off x="9614821" y="6758815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79695166-E1D8-5385-52EE-ACAF4B500B88}"/>
              </a:ext>
            </a:extLst>
          </p:cNvPr>
          <p:cNvSpPr/>
          <p:nvPr/>
        </p:nvSpPr>
        <p:spPr>
          <a:xfrm>
            <a:off x="7568613" y="8603042"/>
            <a:ext cx="6478855" cy="1493164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A81E717-06E5-29E5-D2C6-9B830610475D}"/>
              </a:ext>
            </a:extLst>
          </p:cNvPr>
          <p:cNvSpPr txBox="1"/>
          <p:nvPr/>
        </p:nvSpPr>
        <p:spPr>
          <a:xfrm>
            <a:off x="9721131" y="2280754"/>
            <a:ext cx="616667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Data cleaning and transformation performed in Power BI Power Query where we Handled missing values, standardized party names, and formatted data types.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D14E2BB-4D7C-AF70-9161-529FE8D38CDB}"/>
              </a:ext>
            </a:extLst>
          </p:cNvPr>
          <p:cNvSpPr txBox="1"/>
          <p:nvPr/>
        </p:nvSpPr>
        <p:spPr>
          <a:xfrm>
            <a:off x="11479146" y="4126884"/>
            <a:ext cx="612305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Added Region (North, South, East, West) and Voter Turnout Percentage (Votes Polled / Electors × 100)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3D8AD39-1EC8-066A-F4FE-AA56031AB2E5}"/>
              </a:ext>
            </a:extLst>
          </p:cNvPr>
          <p:cNvSpPr txBox="1"/>
          <p:nvPr/>
        </p:nvSpPr>
        <p:spPr>
          <a:xfrm>
            <a:off x="11528240" y="5765978"/>
            <a:ext cx="584352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Establishing relationships between fields such as State, Year, Party, and Constituency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CFDD73E-A07D-C57A-7D96-66A8EA078A67}"/>
              </a:ext>
            </a:extLst>
          </p:cNvPr>
          <p:cNvSpPr txBox="1"/>
          <p:nvPr/>
        </p:nvSpPr>
        <p:spPr>
          <a:xfrm>
            <a:off x="9865990" y="7319515"/>
            <a:ext cx="597651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Designing interactive dashboards using charts, tables, maps, slicers, and KPIs while implementing filters and drill-through features for detailed analysis.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985FCD4-21D4-D5F3-0CDF-258FAE97E9E1}"/>
              </a:ext>
            </a:extLst>
          </p:cNvPr>
          <p:cNvSpPr txBox="1"/>
          <p:nvPr/>
        </p:nvSpPr>
        <p:spPr>
          <a:xfrm>
            <a:off x="7829303" y="9230745"/>
            <a:ext cx="717161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 panose="020B0604020202020204" charset="0"/>
                <a:ea typeface="DG Jory"/>
                <a:cs typeface="League Spartan" panose="020B0604020202020204" charset="0"/>
                <a:sym typeface="DG Jory"/>
              </a:rPr>
              <a:t>Identification of voting trends, party dominance, gender participation, and regional performance.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 panose="020B0604020202020204" charset="0"/>
              <a:ea typeface="DG Jory"/>
              <a:cs typeface="League Spartan" panose="020B0604020202020204" charset="0"/>
              <a:sym typeface="DG Jory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7AEF7948-26FA-FB00-224B-8B14F993E5AB}"/>
              </a:ext>
            </a:extLst>
          </p:cNvPr>
          <p:cNvSpPr/>
          <p:nvPr/>
        </p:nvSpPr>
        <p:spPr>
          <a:xfrm>
            <a:off x="10146206" y="5113324"/>
            <a:ext cx="888542" cy="940809"/>
          </a:xfrm>
          <a:custGeom>
            <a:avLst/>
            <a:gdLst/>
            <a:ahLst/>
            <a:cxnLst/>
            <a:rect l="l" t="t" r="r" b="b"/>
            <a:pathLst>
              <a:path w="867775" h="926607">
                <a:moveTo>
                  <a:pt x="0" y="0"/>
                </a:moveTo>
                <a:lnTo>
                  <a:pt x="867775" y="0"/>
                </a:lnTo>
                <a:lnTo>
                  <a:pt x="867775" y="926607"/>
                </a:lnTo>
                <a:lnTo>
                  <a:pt x="0" y="926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20CB888-6185-C9D7-1297-7CFAA5C474DC}"/>
              </a:ext>
            </a:extLst>
          </p:cNvPr>
          <p:cNvSpPr txBox="1"/>
          <p:nvPr/>
        </p:nvSpPr>
        <p:spPr>
          <a:xfrm>
            <a:off x="6947888" y="8603358"/>
            <a:ext cx="5117459" cy="1103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INSIGHT GENERATION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C3D0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0FE3B4C2-EF1D-9CF4-E337-44F0683226A1}"/>
              </a:ext>
            </a:extLst>
          </p:cNvPr>
          <p:cNvSpPr txBox="1"/>
          <p:nvPr/>
        </p:nvSpPr>
        <p:spPr>
          <a:xfrm>
            <a:off x="9292119" y="6729807"/>
            <a:ext cx="4344113" cy="1103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VISUALIZATION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5DDADC-C7DD-A16A-D3C9-A46CD419AC1F}"/>
              </a:ext>
            </a:extLst>
          </p:cNvPr>
          <p:cNvSpPr txBox="1"/>
          <p:nvPr/>
        </p:nvSpPr>
        <p:spPr>
          <a:xfrm>
            <a:off x="8210560" y="5135033"/>
            <a:ext cx="9144000" cy="117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MODELING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1E2A8AE-D54C-98D9-B125-222C3E640ACE}"/>
              </a:ext>
            </a:extLst>
          </p:cNvPr>
          <p:cNvSpPr txBox="1"/>
          <p:nvPr/>
        </p:nvSpPr>
        <p:spPr>
          <a:xfrm>
            <a:off x="11352646" y="3557043"/>
            <a:ext cx="5291128" cy="1079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CREATION OF CUSTOM COLUMNS</a:t>
            </a:r>
          </a:p>
          <a:p>
            <a:pPr marL="0" marR="0" lvl="0" indent="0" algn="ctr" defTabSz="914400" rtl="0" eaLnBrk="1" fontAlgn="auto" latinLnBrk="0" hangingPunct="1">
              <a:lnSpc>
                <a:spcPts val="44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A47B217-4A04-48D3-B70D-EF882012FCB1}"/>
              </a:ext>
            </a:extLst>
          </p:cNvPr>
          <p:cNvSpPr txBox="1"/>
          <p:nvPr/>
        </p:nvSpPr>
        <p:spPr>
          <a:xfrm>
            <a:off x="9269346" y="1752654"/>
            <a:ext cx="4419600" cy="1079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eague Spartan"/>
                <a:ea typeface="League Spartan"/>
                <a:cs typeface="League Spartan"/>
                <a:sym typeface="League Spartan"/>
              </a:rPr>
              <a:t>DATA PREPROCESSING</a:t>
            </a:r>
          </a:p>
          <a:p>
            <a:pPr marL="0" marR="0" lvl="0" indent="0" algn="ctr" defTabSz="914400" rtl="0" eaLnBrk="1" fontAlgn="auto" latinLnBrk="0" hangingPunct="1">
              <a:lnSpc>
                <a:spcPts val="4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C722F382-5D9B-366C-4C18-59C309AC553A}"/>
              </a:ext>
            </a:extLst>
          </p:cNvPr>
          <p:cNvSpPr/>
          <p:nvPr/>
        </p:nvSpPr>
        <p:spPr>
          <a:xfrm>
            <a:off x="1219200" y="3144835"/>
            <a:ext cx="4885900" cy="4437046"/>
          </a:xfrm>
          <a:prstGeom prst="flowChartConnector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5BF21A-BF2E-2966-0113-5DDB43F97EFF}"/>
              </a:ext>
            </a:extLst>
          </p:cNvPr>
          <p:cNvSpPr txBox="1"/>
          <p:nvPr/>
        </p:nvSpPr>
        <p:spPr>
          <a:xfrm>
            <a:off x="1756854" y="3430844"/>
            <a:ext cx="4960623" cy="336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4400" b="1" dirty="0">
                <a:solidFill>
                  <a:srgbClr val="00206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SYSTEM DESIGN AND </a:t>
            </a:r>
          </a:p>
          <a:p>
            <a:pPr algn="ctr">
              <a:lnSpc>
                <a:spcPts val="8891"/>
              </a:lnSpc>
            </a:pPr>
            <a:r>
              <a:rPr lang="en-US" sz="4400" b="1" dirty="0">
                <a:solidFill>
                  <a:srgbClr val="00206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WORKFLOW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2D17B5BC-20B5-7276-7323-9F6DEE8F74D2}"/>
              </a:ext>
            </a:extLst>
          </p:cNvPr>
          <p:cNvSpPr/>
          <p:nvPr/>
        </p:nvSpPr>
        <p:spPr>
          <a:xfrm>
            <a:off x="2536223" y="1984200"/>
            <a:ext cx="4826890" cy="5463687"/>
          </a:xfrm>
          <a:prstGeom prst="arc">
            <a:avLst>
              <a:gd name="adj1" fmla="val 16018269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4C4B9948-91B6-6566-D22B-F2776E9CF51E}"/>
              </a:ext>
            </a:extLst>
          </p:cNvPr>
          <p:cNvSpPr/>
          <p:nvPr/>
        </p:nvSpPr>
        <p:spPr>
          <a:xfrm rot="5400000">
            <a:off x="1561974" y="1984200"/>
            <a:ext cx="6132190" cy="5463687"/>
          </a:xfrm>
          <a:prstGeom prst="arc">
            <a:avLst>
              <a:gd name="adj1" fmla="val 16200000"/>
              <a:gd name="adj2" fmla="val 82270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067F638-064A-581D-6D78-9ADEF98C695D}"/>
              </a:ext>
            </a:extLst>
          </p:cNvPr>
          <p:cNvCxnSpPr>
            <a:cxnSpLocks/>
          </p:cNvCxnSpPr>
          <p:nvPr/>
        </p:nvCxnSpPr>
        <p:spPr>
          <a:xfrm flipV="1">
            <a:off x="5422905" y="832046"/>
            <a:ext cx="1141481" cy="119774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AFCAE5-34DB-CEB2-535C-DA1B7F16C6BA}"/>
              </a:ext>
            </a:extLst>
          </p:cNvPr>
          <p:cNvCxnSpPr>
            <a:cxnSpLocks/>
          </p:cNvCxnSpPr>
          <p:nvPr/>
        </p:nvCxnSpPr>
        <p:spPr>
          <a:xfrm flipV="1">
            <a:off x="6947888" y="2487949"/>
            <a:ext cx="1505189" cy="69026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78999E-1EE0-0398-E4DD-1C01956B27DB}"/>
              </a:ext>
            </a:extLst>
          </p:cNvPr>
          <p:cNvCxnSpPr>
            <a:cxnSpLocks/>
          </p:cNvCxnSpPr>
          <p:nvPr/>
        </p:nvCxnSpPr>
        <p:spPr>
          <a:xfrm flipV="1">
            <a:off x="7324300" y="4096998"/>
            <a:ext cx="2821906" cy="2148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0EB2D7-15AA-0569-6217-638643B3D499}"/>
              </a:ext>
            </a:extLst>
          </p:cNvPr>
          <p:cNvCxnSpPr>
            <a:cxnSpLocks/>
          </p:cNvCxnSpPr>
          <p:nvPr/>
        </p:nvCxnSpPr>
        <p:spPr>
          <a:xfrm>
            <a:off x="7324300" y="5359629"/>
            <a:ext cx="2804700" cy="22409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C059FD-5497-D015-FB7F-02F449D589E3}"/>
              </a:ext>
            </a:extLst>
          </p:cNvPr>
          <p:cNvCxnSpPr>
            <a:cxnSpLocks/>
          </p:cNvCxnSpPr>
          <p:nvPr/>
        </p:nvCxnSpPr>
        <p:spPr>
          <a:xfrm>
            <a:off x="6856848" y="6442499"/>
            <a:ext cx="1705696" cy="66098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424114-C5D8-4863-8505-93B41CB89B89}"/>
              </a:ext>
            </a:extLst>
          </p:cNvPr>
          <p:cNvCxnSpPr>
            <a:cxnSpLocks/>
          </p:cNvCxnSpPr>
          <p:nvPr/>
        </p:nvCxnSpPr>
        <p:spPr>
          <a:xfrm>
            <a:off x="5706469" y="7505397"/>
            <a:ext cx="1059157" cy="123711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2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37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72922" y="2099715"/>
            <a:ext cx="17281678" cy="7817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•Extend the project to include real-time and post-election data integration, enabling timely analysis and live election monitoring.</a:t>
            </a:r>
          </a:p>
          <a:p>
            <a:pPr algn="just"/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•Enhance dashboards with demographic and socio-economic indicators such as population, literacy rate, and urban–rural distribution to provide deeper electoral context.</a:t>
            </a:r>
          </a:p>
          <a:p>
            <a:pPr algn="just"/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•Improve interactivity by enabling deeper drill-down capabilities from national-level summaries to state, constituency, and candidate-level insights.</a:t>
            </a:r>
          </a:p>
          <a:p>
            <a:pPr algn="just"/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•Implement AI-powered insight generation to automatically highlight key patterns, anomalies, and significant changes in election outcomes.</a:t>
            </a:r>
          </a:p>
          <a:p>
            <a:pPr algn="just"/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•Expand accessibility through mobile-responsive dashboards and role-based views for analysts, media professionals, and the general public.</a:t>
            </a:r>
          </a:p>
          <a:p>
            <a:pPr algn="just"/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•Strengthen data validation and governance mechanisms to ensure accuracy, consistency, and scalability as datasets grow.</a:t>
            </a:r>
          </a:p>
          <a:p>
            <a:pPr algn="just">
              <a:spcBef>
                <a:spcPct val="0"/>
              </a:spcBef>
            </a:pPr>
            <a:endParaRPr lang="en-US" sz="28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FE351AFA-8D94-2C79-C9EA-A3F18D70B70B}"/>
              </a:ext>
            </a:extLst>
          </p:cNvPr>
          <p:cNvSpPr txBox="1"/>
          <p:nvPr/>
        </p:nvSpPr>
        <p:spPr>
          <a:xfrm>
            <a:off x="533401" y="575006"/>
            <a:ext cx="101346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FUTURE ENHANCEMENT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0B3ECD-2E90-3F86-FED2-DCB55B494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1584455"/>
            <a:ext cx="7442620" cy="4003464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B4827EAD-A04E-236A-958B-F5EDD264B535}"/>
              </a:ext>
            </a:extLst>
          </p:cNvPr>
          <p:cNvSpPr txBox="1"/>
          <p:nvPr/>
        </p:nvSpPr>
        <p:spPr>
          <a:xfrm>
            <a:off x="457200" y="279146"/>
            <a:ext cx="55626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SNAPSHOTS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C2FD4-79CF-362D-CA94-AD80AB86B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335" y="5746007"/>
            <a:ext cx="7941451" cy="4099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FD9B9-4A7B-5EA2-CC2D-C5E267D3F2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746007"/>
            <a:ext cx="7442618" cy="4099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C2D347-C000-6001-AE58-60402CAF9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334" y="1585683"/>
            <a:ext cx="7941452" cy="40022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3160-A73F-5E84-94A3-831C5396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152CFC-D7D4-DFA0-04BC-289167CEF7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5A27084-A600-8DEB-5559-19951DAA37FA}"/>
              </a:ext>
            </a:extLst>
          </p:cNvPr>
          <p:cNvSpPr txBox="1"/>
          <p:nvPr/>
        </p:nvSpPr>
        <p:spPr>
          <a:xfrm>
            <a:off x="457200" y="279146"/>
            <a:ext cx="55626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SNAPSHOTS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8FCAF-60AA-F61C-A71F-DDEB31727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79918"/>
            <a:ext cx="7441200" cy="4235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0314A-F113-0598-ABA8-45EDA72BD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453" y="1579918"/>
            <a:ext cx="7441200" cy="4235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F65938-5A90-1B34-3E59-5E38F2C94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939281"/>
            <a:ext cx="7441200" cy="41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48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2057D-58D1-D705-9E76-4BDCA6FD8113}"/>
              </a:ext>
            </a:extLst>
          </p:cNvPr>
          <p:cNvSpPr txBox="1"/>
          <p:nvPr/>
        </p:nvSpPr>
        <p:spPr>
          <a:xfrm>
            <a:off x="-132736" y="2867332"/>
            <a:ext cx="9210368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MILESTONE – 1</a:t>
            </a:r>
            <a:b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</a:b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Data Cleaning and Data Pre-Processing </a:t>
            </a:r>
          </a:p>
          <a:p>
            <a:pPr algn="ctr">
              <a:lnSpc>
                <a:spcPts val="4432"/>
              </a:lnSpc>
            </a:pPr>
            <a:endParaRPr lang="en-US" sz="1800" dirty="0">
              <a:solidFill>
                <a:srgbClr val="050E9B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E49EC-82E8-715E-7137-DB2819EDFE63}"/>
              </a:ext>
            </a:extLst>
          </p:cNvPr>
          <p:cNvSpPr txBox="1"/>
          <p:nvPr/>
        </p:nvSpPr>
        <p:spPr>
          <a:xfrm>
            <a:off x="79609" y="4406237"/>
            <a:ext cx="9010314" cy="404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Collected Indian General Election dataset from Kaggle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covers national-level election data of the last 10 years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Performed data cleaning and preprocessing using Power BI Power Query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Handled missing and inconsistent values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Standardized state and party names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Converted data types and removed duplicates</a:t>
            </a:r>
          </a:p>
          <a:p>
            <a:pPr algn="just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37489" lvl="1" algn="just">
              <a:lnSpc>
                <a:spcPts val="3079"/>
              </a:lnSpc>
            </a:pPr>
            <a:r>
              <a:rPr lang="en-US" sz="2199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Clean, structured dataset ready for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C65DF-F168-5745-ADA5-9DE7E677108C}"/>
              </a:ext>
            </a:extLst>
          </p:cNvPr>
          <p:cNvSpPr txBox="1"/>
          <p:nvPr/>
        </p:nvSpPr>
        <p:spPr>
          <a:xfrm>
            <a:off x="9820918" y="4406237"/>
            <a:ext cx="8467082" cy="431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3 analytical dashboard pages: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Election Overview – Overall snapshot of votes, parties, candidates, and states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Gender Analysis – Male vs female candidate participation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Regional Analysis – Election behavior across North, South, East, and West</a:t>
            </a:r>
          </a:p>
          <a:p>
            <a:pPr algn="just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37489" lvl="1" algn="just">
              <a:lnSpc>
                <a:spcPts val="3079"/>
              </a:lnSpc>
            </a:pPr>
            <a:r>
              <a:rPr lang="en-US" sz="2199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  <a:r>
              <a:rPr lang="en-US" sz="2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High-level insights into participation and regional trends</a:t>
            </a:r>
          </a:p>
          <a:p>
            <a:pPr algn="just">
              <a:lnSpc>
                <a:spcPts val="1679"/>
              </a:lnSpc>
            </a:pPr>
            <a:endParaRPr lang="en-US" sz="21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F0B08-4C2C-69BF-95BF-BF2607D06533}"/>
              </a:ext>
            </a:extLst>
          </p:cNvPr>
          <p:cNvSpPr txBox="1"/>
          <p:nvPr/>
        </p:nvSpPr>
        <p:spPr>
          <a:xfrm>
            <a:off x="9482305" y="2867332"/>
            <a:ext cx="9210368" cy="1180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MILESTONE – 2</a:t>
            </a:r>
            <a:b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</a:b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Poppins Bold"/>
              </a:rPr>
              <a:t>Initial Dashboard Development</a:t>
            </a:r>
            <a:endParaRPr lang="en-US" sz="2800" b="1" dirty="0">
              <a:solidFill>
                <a:srgbClr val="002060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E43F1E2-FED1-380C-F596-57FF0DFC9677}"/>
              </a:ext>
            </a:extLst>
          </p:cNvPr>
          <p:cNvSpPr txBox="1"/>
          <p:nvPr/>
        </p:nvSpPr>
        <p:spPr>
          <a:xfrm>
            <a:off x="457200" y="600180"/>
            <a:ext cx="141732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PROJECT EXECUTION MILESTONE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06B919-AB3D-6B7D-65E0-88D966EE5F12}"/>
              </a:ext>
            </a:extLst>
          </p:cNvPr>
          <p:cNvCxnSpPr>
            <a:cxnSpLocks/>
          </p:cNvCxnSpPr>
          <p:nvPr/>
        </p:nvCxnSpPr>
        <p:spPr>
          <a:xfrm>
            <a:off x="9372600" y="2967993"/>
            <a:ext cx="0" cy="53759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2D63-B30E-7C10-27B5-CA6C377B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E5DF5F-7F18-DE83-E213-90DCE47E65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80BA7-3509-A7FB-0487-7F557589DF5B}"/>
              </a:ext>
            </a:extLst>
          </p:cNvPr>
          <p:cNvSpPr txBox="1"/>
          <p:nvPr/>
        </p:nvSpPr>
        <p:spPr>
          <a:xfrm>
            <a:off x="-132736" y="2867332"/>
            <a:ext cx="9210368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MILESTONE – 3</a:t>
            </a:r>
            <a:b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</a:br>
            <a:r>
              <a:rPr lang="en-US" sz="2800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Core Visual &amp; Trend Analysis</a:t>
            </a:r>
            <a:endParaRPr lang="en-US" sz="2800" b="1" dirty="0">
              <a:solidFill>
                <a:srgbClr val="002060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  <a:p>
            <a:pPr algn="ctr">
              <a:lnSpc>
                <a:spcPts val="4432"/>
              </a:lnSpc>
            </a:pPr>
            <a:endParaRPr lang="en-US" sz="1800" dirty="0">
              <a:solidFill>
                <a:srgbClr val="050E9B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00600-38A5-F68A-0A51-153D2B11B3D9}"/>
              </a:ext>
            </a:extLst>
          </p:cNvPr>
          <p:cNvSpPr txBox="1"/>
          <p:nvPr/>
        </p:nvSpPr>
        <p:spPr>
          <a:xfrm>
            <a:off x="79609" y="4406237"/>
            <a:ext cx="9010314" cy="3252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2 detailed analytical pages: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State-wise Voting Trend – Voting patterns across states and years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Participation – Party-wise and candidate-level analysis</a:t>
            </a:r>
          </a:p>
          <a:p>
            <a:pPr marL="237489" lvl="1" algn="just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Poppins"/>
              <a:ea typeface="Poppins Bold"/>
              <a:cs typeface="Poppins"/>
              <a:sym typeface="Poppins"/>
            </a:endParaRPr>
          </a:p>
          <a:p>
            <a:pPr marL="237489" lvl="1" algn="just">
              <a:lnSpc>
                <a:spcPts val="3079"/>
              </a:lnSpc>
            </a:pPr>
            <a:r>
              <a:rPr lang="en-US" sz="2199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Interactive dashboards showing voting and participation trends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59DB9-A1AD-7AB6-B541-C7AE2703F89A}"/>
              </a:ext>
            </a:extLst>
          </p:cNvPr>
          <p:cNvSpPr txBox="1"/>
          <p:nvPr/>
        </p:nvSpPr>
        <p:spPr>
          <a:xfrm>
            <a:off x="9820918" y="4406237"/>
            <a:ext cx="8467082" cy="3252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2 advanced insight-driven pages:</a:t>
            </a:r>
          </a:p>
          <a:p>
            <a:pPr marL="474979" lvl="1" indent="-237490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Voter Turnout Analysis – Year-wise and region-wise turnout comparison</a:t>
            </a:r>
          </a:p>
          <a:p>
            <a:pPr marL="474979" lvl="1" indent="-237490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 Party Performance – Identification of dominant parties and vote share</a:t>
            </a:r>
          </a:p>
          <a:p>
            <a:pPr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37489" lvl="1">
              <a:lnSpc>
                <a:spcPts val="3079"/>
              </a:lnSpc>
            </a:pPr>
            <a:r>
              <a:rPr lang="en-US" sz="2199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  <a:r>
              <a:rPr lang="en-US" sz="21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Deep insights into voter engagement and party dominance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FEDAB-8F31-7922-FEAC-2D55ECCB4E2A}"/>
              </a:ext>
            </a:extLst>
          </p:cNvPr>
          <p:cNvSpPr txBox="1"/>
          <p:nvPr/>
        </p:nvSpPr>
        <p:spPr>
          <a:xfrm>
            <a:off x="9482305" y="2867332"/>
            <a:ext cx="9210368" cy="1180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MILESTONE – 4</a:t>
            </a:r>
            <a:b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</a:br>
            <a:r>
              <a:rPr lang="en-US" sz="2800" b="1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Insights &amp; Performance Analysis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825D1DDF-3A74-12A9-C1C1-0E285C158597}"/>
              </a:ext>
            </a:extLst>
          </p:cNvPr>
          <p:cNvSpPr txBox="1"/>
          <p:nvPr/>
        </p:nvSpPr>
        <p:spPr>
          <a:xfrm>
            <a:off x="457200" y="600180"/>
            <a:ext cx="141732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PROJECT EXECUTION MILESTONE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CA5D17-D06C-0712-6428-B1251EF1F166}"/>
              </a:ext>
            </a:extLst>
          </p:cNvPr>
          <p:cNvCxnSpPr>
            <a:cxnSpLocks/>
          </p:cNvCxnSpPr>
          <p:nvPr/>
        </p:nvCxnSpPr>
        <p:spPr>
          <a:xfrm>
            <a:off x="9372600" y="2967993"/>
            <a:ext cx="0" cy="4690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38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2067B-C744-6DC0-0174-95FA5192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64025F-7A60-8386-971A-28E947BD87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16D4DB-FB29-BAEF-5733-5C88646B0F69}"/>
              </a:ext>
            </a:extLst>
          </p:cNvPr>
          <p:cNvSpPr txBox="1"/>
          <p:nvPr/>
        </p:nvSpPr>
        <p:spPr>
          <a:xfrm>
            <a:off x="447368" y="2113058"/>
            <a:ext cx="17145000" cy="382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The </a:t>
            </a:r>
            <a:r>
              <a:rPr lang="en-US" sz="2400" b="1" dirty="0" err="1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ElectViz</a:t>
            </a:r>
            <a:r>
              <a:rPr lang="en-US" sz="2400" dirty="0">
                <a:solidFill>
                  <a:srgbClr val="050E9B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: </a:t>
            </a: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Election Data Visualization for Media project successfully demonstrates how data analytics and visualization </a:t>
            </a:r>
            <a:r>
              <a:rPr lang="en-US" sz="2400" dirty="0" err="1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canconvert</a:t>
            </a: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 complex election datasets into meaningful and actionable insights. By leveraging Power BI, the project transforms large-scale Indian election data into interactive dashboards.</a:t>
            </a:r>
            <a:b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</a:br>
            <a:endParaRPr lang="en-US" sz="2400" dirty="0">
              <a:solidFill>
                <a:srgbClr val="002060"/>
              </a:solidFill>
              <a:latin typeface="Poppins" panose="00000500000000000000" pitchFamily="2" charset="0"/>
              <a:ea typeface="Monda"/>
              <a:cs typeface="Poppins" panose="00000500000000000000" pitchFamily="2" charset="0"/>
              <a:sym typeface="Monda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Overall, </a:t>
            </a:r>
            <a:r>
              <a:rPr lang="en-US" sz="2400" dirty="0" err="1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ElectViz</a:t>
            </a: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ea typeface="Monda"/>
                <a:cs typeface="Poppins" panose="00000500000000000000" pitchFamily="2" charset="0"/>
                <a:sym typeface="Monda"/>
              </a:rPr>
              <a:t> enhances political reporting by enabling fact-based storytelling and informed interpretation of election outcomes. It lays a strong foundation for future extensions such as real-time election tracking and predictive analysis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C730136-3542-3E07-F4A3-D6BE8E929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4589DD-9303-5BC2-53D3-FF1B4BF568C6}"/>
              </a:ext>
            </a:extLst>
          </p:cNvPr>
          <p:cNvGrpSpPr/>
          <p:nvPr/>
        </p:nvGrpSpPr>
        <p:grpSpPr>
          <a:xfrm>
            <a:off x="0" y="5974363"/>
            <a:ext cx="18288000" cy="4335027"/>
            <a:chOff x="0" y="0"/>
            <a:chExt cx="2514545" cy="680977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3B07F80-88CD-BBE8-55C2-CBA2A1EC2D9B}"/>
                </a:ext>
              </a:extLst>
            </p:cNvPr>
            <p:cNvSpPr/>
            <p:nvPr/>
          </p:nvSpPr>
          <p:spPr>
            <a:xfrm>
              <a:off x="0" y="0"/>
              <a:ext cx="2514545" cy="680977"/>
            </a:xfrm>
            <a:custGeom>
              <a:avLst/>
              <a:gdLst/>
              <a:ahLst/>
              <a:cxnLst/>
              <a:rect l="l" t="t" r="r" b="b"/>
              <a:pathLst>
                <a:path w="2514545" h="680976">
                  <a:moveTo>
                    <a:pt x="0" y="0"/>
                  </a:moveTo>
                  <a:lnTo>
                    <a:pt x="2514545" y="0"/>
                  </a:lnTo>
                  <a:lnTo>
                    <a:pt x="2514545" y="680976"/>
                  </a:lnTo>
                  <a:lnTo>
                    <a:pt x="0" y="680976"/>
                  </a:lnTo>
                  <a:close/>
                </a:path>
              </a:pathLst>
            </a:custGeom>
            <a:blipFill>
              <a:blip r:embed="rId3"/>
              <a:stretch>
                <a:fillRect t="-73197" b="-7319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TextBox 6">
            <a:extLst>
              <a:ext uri="{FF2B5EF4-FFF2-40B4-BE49-F238E27FC236}">
                <a16:creationId xmlns:a16="http://schemas.microsoft.com/office/drawing/2014/main" id="{1734FFC6-D594-7BF1-5E6C-21B4390A9CD4}"/>
              </a:ext>
            </a:extLst>
          </p:cNvPr>
          <p:cNvSpPr txBox="1"/>
          <p:nvPr/>
        </p:nvSpPr>
        <p:spPr>
          <a:xfrm>
            <a:off x="457200" y="600180"/>
            <a:ext cx="5638800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87374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7991-E9F4-32C5-A1F6-2341F457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AE960F-A097-522C-ACC4-E6EA0AD764E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6BF2B8-B9D9-F7C5-0C1F-40EB12EB06B8}"/>
              </a:ext>
            </a:extLst>
          </p:cNvPr>
          <p:cNvSpPr txBox="1"/>
          <p:nvPr/>
        </p:nvSpPr>
        <p:spPr>
          <a:xfrm>
            <a:off x="533400" y="1930033"/>
            <a:ext cx="16916400" cy="3816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We would like to express our sincere gratitude to:</a:t>
            </a:r>
          </a:p>
          <a:p>
            <a:pPr marL="431801" lvl="1" indent="-2159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Infosys Springboard Team for organizing this valuable virtual internship opportunity</a:t>
            </a:r>
          </a:p>
          <a:p>
            <a:pPr marL="431801" lvl="1" indent="-2159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Our Mentor for continuous guidance, constructive feedback, and support</a:t>
            </a:r>
          </a:p>
          <a:p>
            <a:pPr marL="431801" lvl="1" indent="-2159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My Teammates for their collaboration, encouragement, and shared insights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solidFill>
                  <a:srgbClr val="00206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This internship has been a meaningful step in enhancing our professional growth and technical expertise.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9E583-21DB-8546-CFE3-9F6AE9B87CF3}"/>
              </a:ext>
            </a:extLst>
          </p:cNvPr>
          <p:cNvSpPr txBox="1"/>
          <p:nvPr/>
        </p:nvSpPr>
        <p:spPr>
          <a:xfrm>
            <a:off x="381000" y="7677008"/>
            <a:ext cx="10591800" cy="197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Election Dataset – Kaggle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Microsoft Power BI Official Documentation</a:t>
            </a: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Infosys Springboard Virtual Internship Course Materials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9EAF20A8-D93D-0264-713B-8B85F3D79D05}"/>
              </a:ext>
            </a:extLst>
          </p:cNvPr>
          <p:cNvSpPr txBox="1"/>
          <p:nvPr/>
        </p:nvSpPr>
        <p:spPr>
          <a:xfrm>
            <a:off x="381000" y="517782"/>
            <a:ext cx="7759769" cy="1056892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5400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ACKNOWLEDGEMENT</a:t>
            </a:r>
            <a:endParaRPr lang="en-US" sz="6000" b="1" dirty="0">
              <a:solidFill>
                <a:schemeClr val="bg1"/>
              </a:solidFill>
              <a:latin typeface="Merriweather Sans Bold"/>
              <a:ea typeface="Merriweather Sans Bold"/>
              <a:cs typeface="Merriweather Sans Bold"/>
              <a:sym typeface="Merriweather Sans Bold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BBB70DD-DD93-23C8-AA8C-B3E67B9F1518}"/>
              </a:ext>
            </a:extLst>
          </p:cNvPr>
          <p:cNvSpPr txBox="1"/>
          <p:nvPr/>
        </p:nvSpPr>
        <p:spPr>
          <a:xfrm>
            <a:off x="381000" y="6303199"/>
            <a:ext cx="4813231" cy="1068626"/>
          </a:xfrm>
          <a:prstGeom prst="rect">
            <a:avLst/>
          </a:prstGeom>
          <a:solidFill>
            <a:srgbClr val="002060"/>
          </a:solidFill>
          <a:ln w="57150">
            <a:solidFill>
              <a:srgbClr val="00206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5400" b="1" dirty="0">
                <a:solidFill>
                  <a:schemeClr val="bg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REFERENCES</a:t>
            </a:r>
            <a:endParaRPr lang="en-US" sz="6000" b="1" dirty="0">
              <a:solidFill>
                <a:schemeClr val="bg1"/>
              </a:solidFill>
              <a:latin typeface="Merriweather Sans Bold"/>
              <a:ea typeface="Merriweather Sans Bold"/>
              <a:cs typeface="Merriweather Sans Bold"/>
              <a:sym typeface="Merriweather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9249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576" y="110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846488" y="3962424"/>
            <a:ext cx="14595024" cy="212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 dirty="0">
                <a:solidFill>
                  <a:srgbClr val="00206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753</Words>
  <Application>Microsoft Office PowerPoint</Application>
  <PresentationFormat>Custom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Monda</vt:lpstr>
      <vt:lpstr>Poppins Bold</vt:lpstr>
      <vt:lpstr>Arial</vt:lpstr>
      <vt:lpstr>Poppins</vt:lpstr>
      <vt:lpstr>Calibri</vt:lpstr>
      <vt:lpstr>Merriweather Sans Bold</vt:lpstr>
      <vt:lpstr>League Spartan</vt:lpstr>
      <vt:lpstr>Merriweather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Geometric Presentation</dc:title>
  <dc:creator>Jasleen</dc:creator>
  <cp:lastModifiedBy>Jasleen kaur</cp:lastModifiedBy>
  <cp:revision>16</cp:revision>
  <dcterms:created xsi:type="dcterms:W3CDTF">2006-08-16T00:00:00Z</dcterms:created>
  <dcterms:modified xsi:type="dcterms:W3CDTF">2026-02-20T11:47:25Z</dcterms:modified>
  <dc:identifier>DAHA7flAPao</dc:identifier>
</cp:coreProperties>
</file>